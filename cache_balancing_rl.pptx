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1FEC4450-37B5-448D-9B27-DAE7C33D2BB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E3E3469-478F-4E0B-9B08-F0106EE399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157A91-03FD-45A6-8190-0E9591CA754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D5E397-75CD-4CA6-A6AF-EAE0A032E6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0FC0C8-6F0C-47E7-95DE-702AF764551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4BECD8-5917-4221-9728-7D8B14A6BC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7D8488-6D60-4728-9ED3-BFE7DA52261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BEEF3C-6E69-43A8-9836-58CAC174B5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A6A788-1B3F-4D6F-8BBB-2A3AAA5FD76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90E376-2C66-452C-B12F-15BFFB48B9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2BD1A5-84D3-466B-841D-E70C35E2C16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E6B18A-2DEE-462F-9D19-04B9A1187C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FF4158-7226-4B55-9CE1-923EB7571A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822960" y="21488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299" strike="noStrike">
                <a:solidFill>
                  <a:srgbClr val="6fb7d6"/>
                </a:solidFill>
                <a:latin typeface="Calibri"/>
                <a:ea typeface="Calibri"/>
              </a:rPr>
              <a:t>BALANCING LOAD ACROSS ORIGIN SERVERS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822960" y="2514600"/>
            <a:ext cx="10515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mbria"/>
                <a:ea typeface="Cambria"/>
              </a:rPr>
              <a:t>From Caching to Reinforcement Learning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822960" y="370332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9d9e0"/>
                </a:solidFill>
                <a:latin typeface="Calibri"/>
                <a:ea typeface="Calibri"/>
              </a:rPr>
              <a:t>Problem definition, offline intuition, and an RL formulation for a fairness-driven cache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822960" y="4846320"/>
            <a:ext cx="2102760" cy="9140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4"/>
          <p:cNvSpPr/>
          <p:nvPr/>
        </p:nvSpPr>
        <p:spPr>
          <a:xfrm>
            <a:off x="822960" y="484632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O1  ·  F1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5029200" y="4617720"/>
            <a:ext cx="2102760" cy="13712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5029200" y="4617720"/>
            <a:ext cx="2102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CACHE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9235440" y="4846320"/>
            <a:ext cx="2102760" cy="9140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9235440" y="4846320"/>
            <a:ext cx="21027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O2  ·  F2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2926080" y="5303520"/>
            <a:ext cx="2103120" cy="360"/>
          </a:xfrm>
          <a:prstGeom prst="line">
            <a:avLst/>
          </a:prstGeom>
          <a:ln w="19050">
            <a:solidFill>
              <a:srgbClr val="6fb7d6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Shape 10"/>
          <p:cNvSpPr/>
          <p:nvPr/>
        </p:nvSpPr>
        <p:spPr>
          <a:xfrm>
            <a:off x="7132320" y="5303520"/>
            <a:ext cx="2103120" cy="360"/>
          </a:xfrm>
          <a:prstGeom prst="line">
            <a:avLst/>
          </a:prstGeom>
          <a:ln w="19050">
            <a:solidFill>
              <a:srgbClr val="6fb7d6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1 · PROBLEM SETUP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A cache in front of two origin servers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640080" y="2011680"/>
            <a:ext cx="2468520" cy="155412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3"/>
          <p:cNvSpPr/>
          <p:nvPr/>
        </p:nvSpPr>
        <p:spPr>
          <a:xfrm>
            <a:off x="640080" y="201168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O1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catalog F1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4846320" y="1737360"/>
            <a:ext cx="2468520" cy="210276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Text 5"/>
          <p:cNvSpPr/>
          <p:nvPr/>
        </p:nvSpPr>
        <p:spPr>
          <a:xfrm>
            <a:off x="4846320" y="1737360"/>
            <a:ext cx="24685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CACHE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hit or miss?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9052560" y="2011680"/>
            <a:ext cx="2468520" cy="155412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7"/>
          <p:cNvSpPr/>
          <p:nvPr/>
        </p:nvSpPr>
        <p:spPr>
          <a:xfrm>
            <a:off x="9052560" y="2011680"/>
            <a:ext cx="24685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O2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catalog F2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3108960" y="2788920"/>
            <a:ext cx="1737360" cy="360"/>
          </a:xfrm>
          <a:prstGeom prst="line">
            <a:avLst/>
          </a:prstGeom>
          <a:ln w="22225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9"/>
          <p:cNvSpPr/>
          <p:nvPr/>
        </p:nvSpPr>
        <p:spPr>
          <a:xfrm>
            <a:off x="3017520" y="24048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5"/>
                </a:solidFill>
                <a:latin typeface="Calibri"/>
                <a:ea typeface="Calibri"/>
              </a:rPr>
              <a:t>miss → O1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7315200" y="2788920"/>
            <a:ext cx="1737360" cy="360"/>
          </a:xfrm>
          <a:prstGeom prst="line">
            <a:avLst/>
          </a:prstGeom>
          <a:ln w="22225">
            <a:solidFill>
              <a:srgbClr val="2129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1"/>
          <p:cNvSpPr/>
          <p:nvPr/>
        </p:nvSpPr>
        <p:spPr>
          <a:xfrm>
            <a:off x="7315200" y="24048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a6b75"/>
                </a:solidFill>
                <a:latin typeface="Calibri"/>
                <a:ea typeface="Calibri"/>
              </a:rPr>
              <a:t>miss → O2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640080" y="4206240"/>
            <a:ext cx="5486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500" spc="-1" strike="noStrike">
                <a:solidFill>
                  <a:srgbClr val="1b1b1f"/>
                </a:solidFill>
                <a:latin typeface="Calibri"/>
                <a:ea typeface="Calibri"/>
              </a:rPr>
              <a:t>Every request arrives at the cache.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b1b1f"/>
                </a:solidFill>
                <a:latin typeface="Calibri"/>
                <a:ea typeface="Calibri"/>
              </a:rPr>
              <a:t>Hit → served directly from cache.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5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1b1b1f"/>
                </a:solidFill>
                <a:latin typeface="Calibri"/>
                <a:ea typeface="Calibri"/>
              </a:rPr>
              <a:t>Miss → forwarded to whichever origin owns the file.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6400800" y="4206240"/>
            <a:ext cx="512028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1e6"/>
            </a:solidFill>
            <a:round/>
          </a:ln>
          <a:effectLst>
            <a:outerShdw algn="bl" blurRad="76320" dir="5400000" dist="25560" kx="0" ky="0" rotWithShape="0" sx="100000" sy="100000">
              <a:srgbClr val="888888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9" name="Text 14"/>
          <p:cNvSpPr/>
          <p:nvPr/>
        </p:nvSpPr>
        <p:spPr>
          <a:xfrm>
            <a:off x="6675120" y="43434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c7293"/>
                </a:solidFill>
                <a:latin typeface="Calibri"/>
                <a:ea typeface="Calibri"/>
              </a:rPr>
              <a:t>The twist:  </a:t>
            </a:r>
            <a:r>
              <a:rPr b="0" lang="en-US" sz="1400" spc="-1" strike="noStrike">
                <a:solidFill>
                  <a:srgbClr val="1b1b1f"/>
                </a:solidFill>
                <a:latin typeface="Calibri"/>
                <a:ea typeface="Calibri"/>
              </a:rPr>
              <a:t>the objective is not hit rate.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6675120" y="4709160"/>
            <a:ext cx="45716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75"/>
                </a:solidFill>
                <a:latin typeface="Calibri"/>
                <a:ea typeface="Calibri"/>
              </a:rPr>
              <a:t>Goal: keep the number of accesses to O1 and O2 as balanced as possible — a cache with fewer hits but even load can beat one with more hits that dumps everything on one origin.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2 · WHY THIS ISN'T CLASSIC CACHING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Popularity alone isn't enough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548640" y="2103120"/>
            <a:ext cx="5362560" cy="2285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3"/>
          <p:cNvSpPr/>
          <p:nvPr/>
        </p:nvSpPr>
        <p:spPr>
          <a:xfrm>
            <a:off x="548640" y="2331720"/>
            <a:ext cx="536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48" strike="noStrike">
                <a:solidFill>
                  <a:srgbClr val="5a6b75"/>
                </a:solidFill>
                <a:latin typeface="Calibri"/>
                <a:ea typeface="Calibri"/>
              </a:rPr>
              <a:t>CLASSIC CACHING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548640" y="2788920"/>
            <a:ext cx="5362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21295c"/>
                </a:solidFill>
                <a:latin typeface="Cambria"/>
                <a:ea typeface="Cambria"/>
              </a:rPr>
              <a:t>value(f) = p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603504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21295c"/>
                </a:solidFill>
                <a:latin typeface="Cambria"/>
                <a:ea typeface="Cambria"/>
              </a:rPr>
              <a:t>f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822960" y="3566160"/>
            <a:ext cx="4813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a6b75"/>
                </a:solidFill>
                <a:latin typeface="Calibri"/>
                <a:ea typeface="Calibri"/>
              </a:rPr>
              <a:t>Cache whatever is most popular — file identity beyond popularity doesn't matter.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6277320" y="2103120"/>
            <a:ext cx="5362560" cy="228564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8"/>
          <p:cNvSpPr/>
          <p:nvPr/>
        </p:nvSpPr>
        <p:spPr>
          <a:xfrm>
            <a:off x="6277320" y="2331720"/>
            <a:ext cx="5362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48" strike="noStrike">
                <a:solidFill>
                  <a:srgbClr val="bee0ee"/>
                </a:solidFill>
                <a:latin typeface="Calibri"/>
                <a:ea typeface="Calibri"/>
              </a:rPr>
              <a:t>THIS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6277320" y="2788920"/>
            <a:ext cx="5362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value(f) = p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998064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f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10209240" y="2788920"/>
            <a:ext cx="914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· w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1080360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f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6551640" y="3566160"/>
            <a:ext cx="4813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A file's value is its load relief per cache slot — popularity times its workload w on the origin.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548640" y="4709160"/>
            <a:ext cx="10606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5a6b75"/>
                </a:solidFill>
                <a:latin typeface="Calibri"/>
                <a:ea typeface="Calibri"/>
              </a:rPr>
              <a:t>A hugely popular file may do nothing for balance if it doesn't belong to the currently overloaded catalog — and an expensive-but-moderate file can matter more than a cheap-but-popular one.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3 · THE OFFLINE VERSION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If we knew everything in advance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548640" y="214884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"/>
          <p:cNvSpPr/>
          <p:nvPr/>
        </p:nvSpPr>
        <p:spPr>
          <a:xfrm>
            <a:off x="548640" y="2148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1280160" y="212148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libri"/>
                <a:ea typeface="Calibri"/>
              </a:rPr>
              <a:t>Formulation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4114800" y="212148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b1b1f"/>
                </a:solidFill>
                <a:latin typeface="Calibri"/>
                <a:ea typeface="Calibri"/>
              </a:rPr>
              <a:t>Choose which files to cache, subject to capacity K, so the two origins' loads are as equal as possible.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548640" y="301752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7"/>
          <p:cNvSpPr/>
          <p:nvPr/>
        </p:nvSpPr>
        <p:spPr>
          <a:xfrm>
            <a:off x="548640" y="3017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1280160" y="299016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libri"/>
                <a:ea typeface="Calibri"/>
              </a:rPr>
              <a:t>Complexity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4114800" y="299016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b1b1f"/>
                </a:solidFill>
                <a:latin typeface="Calibri"/>
                <a:ea typeface="Calibri"/>
              </a:rPr>
              <a:t>Reduces to a subset-sum-style problem — NP-hard in general.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548640" y="3886200"/>
            <a:ext cx="502560" cy="50256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1"/>
          <p:cNvSpPr/>
          <p:nvPr/>
        </p:nvSpPr>
        <p:spPr>
          <a:xfrm>
            <a:off x="548640" y="38862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1280160" y="38588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1295c"/>
                </a:solidFill>
                <a:latin typeface="Calibri"/>
                <a:ea typeface="Calibri"/>
              </a:rPr>
              <a:t>Practical fix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4114800" y="3858840"/>
            <a:ext cx="6949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b1b1f"/>
                </a:solidFill>
                <a:latin typeface="Calibri"/>
                <a:ea typeface="Calibri"/>
              </a:rPr>
              <a:t>Greedy heuristic: rank files within each catalog by p·w, close the gap, spend remaining capacity in matched pairs.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02" name="Text 16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4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6fb7d6"/>
                </a:solidFill>
                <a:latin typeface="Calibri"/>
                <a:ea typeface="Calibri"/>
              </a:rPr>
              <a:t>4 · WHY REINFORCEMENT LEARNING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Nothing is known in advance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48640" y="2103120"/>
            <a:ext cx="3245760" cy="2834280"/>
          </a:xfrm>
          <a:prstGeom prst="roundRect">
            <a:avLst>
              <a:gd name="adj" fmla="val 3226"/>
            </a:avLst>
          </a:prstGeom>
          <a:solidFill>
            <a:srgbClr val="1b3a66"/>
          </a:solidFill>
          <a:ln w="12700">
            <a:solidFill>
              <a:srgbClr val="1b3a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"/>
          <p:cNvSpPr/>
          <p:nvPr/>
        </p:nvSpPr>
        <p:spPr>
          <a:xfrm>
            <a:off x="777240" y="2377440"/>
            <a:ext cx="2788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pₘ unknown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777240" y="3246120"/>
            <a:ext cx="2788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d7e6ec"/>
                </a:solidFill>
                <a:latin typeface="Calibri"/>
                <a:ea typeface="Calibri"/>
              </a:rPr>
              <a:t>File popularities aren't known ahead of time — must be learned from observed traffic.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4114800" y="2103120"/>
            <a:ext cx="3245760" cy="2834280"/>
          </a:xfrm>
          <a:prstGeom prst="roundRect">
            <a:avLst>
              <a:gd name="adj" fmla="val 3226"/>
            </a:avLst>
          </a:prstGeom>
          <a:solidFill>
            <a:srgbClr val="1b3a66"/>
          </a:solidFill>
          <a:ln w="12700">
            <a:solidFill>
              <a:srgbClr val="1b3a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6"/>
          <p:cNvSpPr/>
          <p:nvPr/>
        </p:nvSpPr>
        <p:spPr>
          <a:xfrm>
            <a:off x="4343400" y="2377440"/>
            <a:ext cx="2788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wₘ unknown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343400" y="3246120"/>
            <a:ext cx="2788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d7e6ec"/>
                </a:solidFill>
                <a:latin typeface="Calibri"/>
                <a:ea typeface="Calibri"/>
              </a:rPr>
              <a:t>Per-file workload on the origin is also unknown in advance.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7680960" y="2103120"/>
            <a:ext cx="3245760" cy="2834280"/>
          </a:xfrm>
          <a:prstGeom prst="roundRect">
            <a:avLst>
              <a:gd name="adj" fmla="val 3226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9"/>
          <p:cNvSpPr/>
          <p:nvPr/>
        </p:nvSpPr>
        <p:spPr>
          <a:xfrm>
            <a:off x="7909560" y="2377440"/>
            <a:ext cx="27885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→ </a:t>
            </a: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Sequential decisions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7909560" y="3246120"/>
            <a:ext cx="2788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d7e6ec"/>
                </a:solidFill>
                <a:latin typeface="Calibri"/>
                <a:ea typeface="Calibri"/>
              </a:rPr>
              <a:t>Static optimization becomes decision-making under uncertainty, with delayed consequences — a natural fit for RL.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548640" y="52578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bee0ee"/>
                </a:solidFill>
                <a:latin typeface="Calibri"/>
                <a:ea typeface="Calibri"/>
              </a:rPr>
              <a:t>The agent never needs explicit estimates of pₘ or wₘ — it only needs a reward signal reflecting the real consequences of its caching decisions over time.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fa6b0"/>
                </a:solidFill>
                <a:latin typeface="Calibri"/>
                <a:ea typeface="Calibri"/>
              </a:rPr>
              <a:t>5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5 · RL FORMULATION · STATE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What the agent observes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548640" y="19659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GLOBAL FEATURES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9" name="Shape 3"/>
          <p:cNvSpPr/>
          <p:nvPr/>
        </p:nvSpPr>
        <p:spPr>
          <a:xfrm>
            <a:off x="548640" y="2331720"/>
            <a:ext cx="493740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4"/>
          <p:cNvSpPr/>
          <p:nvPr/>
        </p:nvSpPr>
        <p:spPr>
          <a:xfrm>
            <a:off x="822960" y="2560320"/>
            <a:ext cx="43887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21295c"/>
                </a:solidFill>
                <a:latin typeface="Calibri"/>
                <a:ea typeface="Calibri"/>
              </a:rPr>
              <a:t>Balance indicator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5a6b75"/>
                </a:solidFill>
                <a:latin typeface="Calibri"/>
                <a:ea typeface="Calibri"/>
              </a:rPr>
              <a:t>discretized, currently 2 bins: balanced / unbalanced</a:t>
            </a:r>
            <a:endParaRPr b="0" lang="en-US" sz="12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2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endParaRPr b="0" lang="en-US" sz="1250" spc="-1" strike="noStrike"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5760720" y="1965960"/>
            <a:ext cx="5851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48" strike="noStrike">
                <a:solidFill>
                  <a:srgbClr val="1c7293"/>
                </a:solidFill>
                <a:latin typeface="Calibri"/>
                <a:ea typeface="Calibri"/>
              </a:rPr>
              <a:t>LOCAL FEATURES (per request)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5760720" y="2331720"/>
            <a:ext cx="585180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7"/>
          <p:cNvSpPr/>
          <p:nvPr/>
        </p:nvSpPr>
        <p:spPr>
          <a:xfrm>
            <a:off x="6035040" y="2514600"/>
            <a:ext cx="5394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b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b1b1f"/>
                </a:solidFill>
                <a:latin typeface="Calibri"/>
                <a:ea typeface="Calibri"/>
              </a:rPr>
              <a:t>Cached right now? — also tells you hit vs. miss for free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b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b1b1f"/>
                </a:solidFill>
                <a:latin typeface="Calibri"/>
                <a:ea typeface="Calibri"/>
              </a:rPr>
              <a:t>Which catalog (F1 or F2)</a:t>
            </a:r>
            <a:endParaRPr b="0" lang="en-US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1b1b1f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1b1b1f"/>
                </a:solidFill>
                <a:latin typeface="Calibri"/>
                <a:ea typeface="Calibri"/>
              </a:rPr>
              <a:t>Discretized “how frequent is this file” estimate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548640" y="4343400"/>
            <a:ext cx="11063880" cy="1462680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9"/>
          <p:cNvSpPr/>
          <p:nvPr/>
        </p:nvSpPr>
        <p:spPr>
          <a:xfrm>
            <a:off x="822960" y="4526280"/>
            <a:ext cx="10515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urier New"/>
                <a:ea typeface="Courier New"/>
              </a:rPr>
              <a:t>state = ( balance, catalog, cached, freq_bin 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822960" y="507492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9d9e0"/>
                </a:solidFill>
                <a:latin typeface="Calibri"/>
                <a:ea typeface="Calibri"/>
              </a:rPr>
              <a:t>2 balance levels × 2 catalogs × 2 cached-flags × B frequency bins  →  ~24–40 states for B = 3–5  —  small enough for a tabular Q-table.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6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6 · RL FORMULATION · ACTIONS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Two actions, meaning depends on the branch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548640" y="2103120"/>
            <a:ext cx="5074560" cy="1965600"/>
          </a:xfrm>
          <a:prstGeom prst="roundRect">
            <a:avLst>
              <a:gd name="adj" fmla="val 4651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3"/>
          <p:cNvSpPr/>
          <p:nvPr/>
        </p:nvSpPr>
        <p:spPr>
          <a:xfrm>
            <a:off x="822960" y="233172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48" strike="noStrike">
                <a:solidFill>
                  <a:srgbClr val="bee0ee"/>
                </a:solidFill>
                <a:latin typeface="Calibri"/>
                <a:ea typeface="Calibri"/>
              </a:rPr>
              <a:t>ON A MISS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822960" y="2697480"/>
            <a:ext cx="452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{ admit,  skip }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Text 5"/>
          <p:cNvSpPr/>
          <p:nvPr/>
        </p:nvSpPr>
        <p:spPr>
          <a:xfrm>
            <a:off x="822960" y="329184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Admit — pull the file into cache.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Skip — serve from origin, don't cache.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6080760" y="2103120"/>
            <a:ext cx="5074560" cy="1965600"/>
          </a:xfrm>
          <a:prstGeom prst="roundRect">
            <a:avLst>
              <a:gd name="adj" fmla="val 4651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7"/>
          <p:cNvSpPr/>
          <p:nvPr/>
        </p:nvSpPr>
        <p:spPr>
          <a:xfrm>
            <a:off x="6355080" y="233172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48" strike="noStrike">
                <a:solidFill>
                  <a:srgbClr val="d7f0ea"/>
                </a:solidFill>
                <a:latin typeface="Calibri"/>
                <a:ea typeface="Calibri"/>
              </a:rPr>
              <a:t>ON A HIT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6355080" y="2697480"/>
            <a:ext cx="4525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{ evict,  keep }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7" name="Text 9"/>
          <p:cNvSpPr/>
          <p:nvPr/>
        </p:nvSpPr>
        <p:spPr>
          <a:xfrm>
            <a:off x="6355080" y="329184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af6f2"/>
                </a:solidFill>
                <a:latin typeface="Calibri"/>
                <a:ea typeface="Calibri"/>
              </a:rPr>
              <a:t>Evict — drop the just-hit file anyway.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af6f2"/>
                </a:solidFill>
                <a:latin typeface="Calibri"/>
                <a:ea typeface="Calibri"/>
              </a:rPr>
              <a:t>Keep — leave it cached.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548640" y="4389120"/>
            <a:ext cx="10606680" cy="1279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11"/>
          <p:cNvSpPr/>
          <p:nvPr/>
        </p:nvSpPr>
        <p:spPr>
          <a:xfrm>
            <a:off x="822960" y="4572000"/>
            <a:ext cx="100580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LRU resolves forced evictions.  </a:t>
            </a:r>
            <a:r>
              <a:rPr b="0" lang="en-US" sz="1300" spc="-1" strike="noStrike">
                <a:solidFill>
                  <a:srgbClr val="1b1b1f"/>
                </a:solidFill>
                <a:latin typeface="Calibri"/>
                <a:ea typeface="Calibri"/>
              </a:rPr>
              <a:t>When “admit” is chosen on a full cache, LRU silently picks the victim. The agent decides whether to admit or evict — not who the LRU victim is. This keeps the action space at exactly 2 actions per branch while still giving the agent real control.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7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7 · RL FORMULATION · REWARD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Reward = Jain's fairness index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43" name="Shape 2"/>
          <p:cNvSpPr/>
          <p:nvPr/>
        </p:nvSpPr>
        <p:spPr>
          <a:xfrm>
            <a:off x="548640" y="2057400"/>
            <a:ext cx="5211720" cy="2331360"/>
          </a:xfrm>
          <a:prstGeom prst="roundRect">
            <a:avLst>
              <a:gd name="adj" fmla="val 3922"/>
            </a:avLst>
          </a:prstGeom>
          <a:solidFill>
            <a:srgbClr val="21295c"/>
          </a:solidFill>
          <a:ln w="12700">
            <a:solidFill>
              <a:srgbClr val="2129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3"/>
          <p:cNvSpPr/>
          <p:nvPr/>
        </p:nvSpPr>
        <p:spPr>
          <a:xfrm>
            <a:off x="822960" y="2331720"/>
            <a:ext cx="2102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J(Â₁, Â₂)  =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2834640" y="233172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(Â₁ + Â₂)²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46" name="Shape 5"/>
          <p:cNvSpPr/>
          <p:nvPr/>
        </p:nvSpPr>
        <p:spPr>
          <a:xfrm>
            <a:off x="2880360" y="2816280"/>
            <a:ext cx="256032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6"/>
          <p:cNvSpPr/>
          <p:nvPr/>
        </p:nvSpPr>
        <p:spPr>
          <a:xfrm>
            <a:off x="2834640" y="285300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Cambria"/>
                <a:ea typeface="Cambria"/>
              </a:rPr>
              <a:t>2 ( Â₁² + Â₂² )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822960" y="35661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bee0ee"/>
                </a:solidFill>
                <a:latin typeface="Cambria"/>
                <a:ea typeface="Cambria"/>
              </a:rPr>
              <a:t>∈  </a:t>
            </a:r>
            <a:r>
              <a:rPr b="0" i="1" lang="en-US" sz="1700" spc="-1" strike="noStrike">
                <a:solidFill>
                  <a:srgbClr val="bee0ee"/>
                </a:solidFill>
                <a:latin typeface="Cambria"/>
                <a:ea typeface="Cambria"/>
              </a:rPr>
              <a:t>[ 0.5 ,  1 ]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822960" y="4069080"/>
            <a:ext cx="4663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c2d2"/>
                </a:solidFill>
                <a:latin typeface="Calibri"/>
                <a:ea typeface="Calibri"/>
              </a:rPr>
              <a:t>1 = perfect balance      0.5 = total imbalance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6080760" y="2103120"/>
            <a:ext cx="55317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Use rates, not totals.  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spcAft>
                <a:spcPts val="1400"/>
              </a:spcAft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b1b1f"/>
                </a:solidFill>
                <a:latin typeface="Calibri"/>
                <a:ea typeface="Calibri"/>
              </a:rPr>
              <a:t>Plug in windowed / EWMA load-rate estimates Â₁, Â₂, not raw cumulative totals — otherwise the reward gets diluted by history and stops reflecting current behavior.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1295c"/>
                </a:solidFill>
                <a:latin typeface="Calibri"/>
                <a:ea typeface="Calibri"/>
              </a:rPr>
              <a:t>Needs observable realized workload.  </a:t>
            </a:r>
            <a:endParaRPr b="0" lang="en-US" sz="130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b1b1f"/>
                </a:solidFill>
                <a:latin typeface="Calibri"/>
                <a:ea typeface="Calibri"/>
              </a:rPr>
              <a:t>The environment must reveal each miss's actual cost after it happens — unknown in advance is fine, unobservable forever is not.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548640" y="47091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a6b75"/>
                </a:solidFill>
                <a:latin typeface="Calibri"/>
                <a:ea typeface="Calibri"/>
              </a:rPr>
              <a:t>Note: the reward stays continuous even though the balance state feature is coarsely discretized — different roles. Reward drives learning signal quality; the state feature drives generalization.</a:t>
            </a:r>
            <a:endParaRPr b="0" lang="en-US" sz="1250" spc="-1" strike="noStrike">
              <a:latin typeface="Arial"/>
            </a:endParaRPr>
          </a:p>
        </p:txBody>
      </p:sp>
      <p:sp>
        <p:nvSpPr>
          <p:cNvPr id="152" name="Text 11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8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8 · PROBLEM TYPE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Continuing, not episodic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548640" y="2148840"/>
            <a:ext cx="5074560" cy="2102760"/>
          </a:xfrm>
          <a:prstGeom prst="roundRect">
            <a:avLst>
              <a:gd name="adj" fmla="val 4348"/>
            </a:avLst>
          </a:prstGeom>
          <a:solidFill>
            <a:srgbClr val="e9eef1"/>
          </a:solidFill>
          <a:ln w="12700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3"/>
          <p:cNvSpPr/>
          <p:nvPr/>
        </p:nvSpPr>
        <p:spPr>
          <a:xfrm>
            <a:off x="822960" y="237744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48" strike="noStrike">
                <a:solidFill>
                  <a:srgbClr val="5a6b75"/>
                </a:solidFill>
                <a:latin typeface="Calibri"/>
                <a:ea typeface="Calibri"/>
              </a:rPr>
              <a:t>EPISODIC · DISCOUNTED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822960" y="2788920"/>
            <a:ext cx="452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b1b1f"/>
                </a:solidFill>
                <a:latin typeface="Calibri"/>
                <a:ea typeface="Calibri"/>
              </a:rPr>
              <a:t>Assumes a natural terminal state and a discount factor γ that shrinks the value of far-future reward.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8" name="Shape 5"/>
          <p:cNvSpPr/>
          <p:nvPr/>
        </p:nvSpPr>
        <p:spPr>
          <a:xfrm>
            <a:off x="6080760" y="2148840"/>
            <a:ext cx="5074560" cy="2102760"/>
          </a:xfrm>
          <a:prstGeom prst="roundRect">
            <a:avLst>
              <a:gd name="adj" fmla="val 4348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6"/>
          <p:cNvSpPr/>
          <p:nvPr/>
        </p:nvSpPr>
        <p:spPr>
          <a:xfrm>
            <a:off x="6355080" y="237744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Calibri"/>
                <a:ea typeface="Calibri"/>
              </a:rPr>
              <a:t>CONTINUING · AVERAGE-REWARD  ✓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6355080" y="2788920"/>
            <a:ext cx="452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 cache runs indefinitely — no episode boundary. Optimize long-run average reward per step instead.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6355080" y="379476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d7f0ea"/>
                </a:solidFill>
                <a:latin typeface="Calibri"/>
                <a:ea typeface="Calibri"/>
              </a:rPr>
              <a:t>Chosen framing for this problem.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9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1c7293"/>
                </a:solidFill>
                <a:latin typeface="Calibri"/>
                <a:ea typeface="Calibri"/>
              </a:rPr>
              <a:t>9 · A CONTROLLED COMPARISON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21295c"/>
                </a:solidFill>
                <a:latin typeface="Cambria"/>
                <a:ea typeface="Cambria"/>
              </a:rPr>
              <a:t>Two versions, one feature apart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548640" y="160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5a6b75"/>
                </a:solidFill>
                <a:latin typeface="Calibri"/>
                <a:ea typeface="Calibri"/>
              </a:rPr>
              <a:t>Everything is shared — state shape, actions, reward, update rule. Only the “how frequent is this file” feature differs.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548640" y="2240280"/>
            <a:ext cx="5074560" cy="2377080"/>
          </a:xfrm>
          <a:prstGeom prst="roundRect">
            <a:avLst>
              <a:gd name="adj" fmla="val 3846"/>
            </a:avLst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4"/>
          <p:cNvSpPr/>
          <p:nvPr/>
        </p:nvSpPr>
        <p:spPr>
          <a:xfrm>
            <a:off x="822960" y="246888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48" strike="noStrike">
                <a:solidFill>
                  <a:srgbClr val="bee0ee"/>
                </a:solidFill>
                <a:latin typeface="Calibri"/>
                <a:ea typeface="Calibri"/>
              </a:rPr>
              <a:t>IRM VERSION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822960" y="283464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Plain running frequency count.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822960" y="3291840"/>
            <a:ext cx="452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Consistent with the Independent Reference Model: requests are i.i.d., no memory beyond marginal probability — so recency carries no information.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6080760" y="2240280"/>
            <a:ext cx="5074560" cy="237708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8"/>
          <p:cNvSpPr/>
          <p:nvPr/>
        </p:nvSpPr>
        <p:spPr>
          <a:xfrm>
            <a:off x="6355080" y="2468880"/>
            <a:ext cx="4525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97" strike="noStrike">
                <a:solidFill>
                  <a:srgbClr val="d7f0ea"/>
                </a:solidFill>
                <a:latin typeface="Calibri"/>
                <a:ea typeface="Calibri"/>
              </a:rPr>
              <a:t>TEMPORAL-LOCALITY VERSION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6355080" y="2834640"/>
            <a:ext cx="4525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EWMA-weighted frequency.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6355080" y="3291840"/>
            <a:ext cx="452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af6f2"/>
                </a:solidFill>
                <a:latin typeface="Calibri"/>
                <a:ea typeface="Calibri"/>
              </a:rPr>
              <a:t>Recency-sensitive — helps whenever real traffic has bursts or working-set effects that violate IRM.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548640" y="489204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21295c"/>
                </a:solidFill>
                <a:latin typeface="Calibri"/>
                <a:ea typeface="Calibri"/>
              </a:rPr>
              <a:t>Why it's useful:  </a:t>
            </a:r>
            <a:r>
              <a:rPr b="0" lang="en-US" sz="1350" spc="-1" strike="noStrike">
                <a:solidFill>
                  <a:srgbClr val="1b1b1f"/>
                </a:solidFill>
                <a:latin typeface="Calibri"/>
                <a:ea typeface="Calibri"/>
              </a:rPr>
              <a:t>any performance gap between the two agents becomes a direct, uncofounded measurement of how much value comes from modeling temporal locality.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a6b75"/>
                </a:solidFill>
                <a:latin typeface="Calibri"/>
                <a:ea typeface="Calibri"/>
              </a:rPr>
              <a:t>10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6fb7d6"/>
                </a:solidFill>
                <a:latin typeface="Calibri"/>
                <a:ea typeface="Calibri"/>
              </a:rPr>
              <a:t>10 · REPRESENTATION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77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Tabular first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548640" y="1554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bee0ee"/>
                </a:solidFill>
                <a:latin typeface="Calibri"/>
                <a:ea typeface="Calibri"/>
              </a:rPr>
              <a:t>The state was deliberately kept small — no function approximation needed yet.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9" name="Shape 3"/>
          <p:cNvSpPr/>
          <p:nvPr/>
        </p:nvSpPr>
        <p:spPr>
          <a:xfrm>
            <a:off x="548640" y="2286000"/>
            <a:ext cx="2377080" cy="1416960"/>
          </a:xfrm>
          <a:prstGeom prst="roundRect">
            <a:avLst>
              <a:gd name="adj" fmla="val 6452"/>
            </a:avLst>
          </a:prstGeom>
          <a:solidFill>
            <a:srgbClr val="1b3a66"/>
          </a:solidFill>
          <a:ln w="12700">
            <a:solidFill>
              <a:srgbClr val="1b3a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"/>
          <p:cNvSpPr/>
          <p:nvPr/>
        </p:nvSpPr>
        <p:spPr>
          <a:xfrm>
            <a:off x="548640" y="242316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548640" y="31546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c2d2"/>
                </a:solidFill>
                <a:latin typeface="Calibri"/>
                <a:ea typeface="Calibri"/>
              </a:rPr>
              <a:t>balance levels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3182040" y="2286000"/>
            <a:ext cx="2377080" cy="1416960"/>
          </a:xfrm>
          <a:prstGeom prst="roundRect">
            <a:avLst>
              <a:gd name="adj" fmla="val 6452"/>
            </a:avLst>
          </a:prstGeom>
          <a:solidFill>
            <a:srgbClr val="1b3a66"/>
          </a:solidFill>
          <a:ln w="12700">
            <a:solidFill>
              <a:srgbClr val="1b3a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7"/>
          <p:cNvSpPr/>
          <p:nvPr/>
        </p:nvSpPr>
        <p:spPr>
          <a:xfrm>
            <a:off x="3182040" y="242316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4" name="Text 8"/>
          <p:cNvSpPr/>
          <p:nvPr/>
        </p:nvSpPr>
        <p:spPr>
          <a:xfrm>
            <a:off x="3182040" y="31546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c2d2"/>
                </a:solidFill>
                <a:latin typeface="Calibri"/>
                <a:ea typeface="Calibri"/>
              </a:rPr>
              <a:t>catalogs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85" name="Shape 9"/>
          <p:cNvSpPr/>
          <p:nvPr/>
        </p:nvSpPr>
        <p:spPr>
          <a:xfrm>
            <a:off x="5815440" y="2286000"/>
            <a:ext cx="2377080" cy="1416960"/>
          </a:xfrm>
          <a:prstGeom prst="roundRect">
            <a:avLst>
              <a:gd name="adj" fmla="val 6452"/>
            </a:avLst>
          </a:prstGeom>
          <a:solidFill>
            <a:srgbClr val="1b3a66"/>
          </a:solidFill>
          <a:ln w="12700">
            <a:solidFill>
              <a:srgbClr val="1b3a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Text 10"/>
          <p:cNvSpPr/>
          <p:nvPr/>
        </p:nvSpPr>
        <p:spPr>
          <a:xfrm>
            <a:off x="5815440" y="242316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5815440" y="31546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c2d2"/>
                </a:solidFill>
                <a:latin typeface="Calibri"/>
                <a:ea typeface="Calibri"/>
              </a:rPr>
              <a:t>cached flags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8449200" y="2286000"/>
            <a:ext cx="2377080" cy="1416960"/>
          </a:xfrm>
          <a:prstGeom prst="roundRect">
            <a:avLst>
              <a:gd name="adj" fmla="val 6452"/>
            </a:avLst>
          </a:prstGeom>
          <a:solidFill>
            <a:srgbClr val="1b3a66"/>
          </a:solidFill>
          <a:ln w="12700">
            <a:solidFill>
              <a:srgbClr val="1b3a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3"/>
          <p:cNvSpPr/>
          <p:nvPr/>
        </p:nvSpPr>
        <p:spPr>
          <a:xfrm>
            <a:off x="8449200" y="242316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3–5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8449200" y="315468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c2d2"/>
                </a:solidFill>
                <a:latin typeface="Calibri"/>
                <a:ea typeface="Calibri"/>
              </a:rPr>
              <a:t>frequency bins (B)</a:t>
            </a:r>
            <a:endParaRPr b="0" lang="en-US" sz="1150" spc="-1" strike="noStrike"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548640" y="402336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16"/>
          <p:cNvSpPr/>
          <p:nvPr/>
        </p:nvSpPr>
        <p:spPr>
          <a:xfrm>
            <a:off x="822960" y="42246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→  </a:t>
            </a:r>
            <a:r>
              <a:rPr b="1" lang="en-US" sz="2000" spc="-1" strike="noStrike">
                <a:solidFill>
                  <a:srgbClr val="ffffff"/>
                </a:solidFill>
                <a:latin typeface="Courier New"/>
                <a:ea typeface="Courier New"/>
              </a:rPr>
              <a:t>8B total states  ≈  24–40 for B = 3–5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93" name="Text 17"/>
          <p:cNvSpPr/>
          <p:nvPr/>
        </p:nvSpPr>
        <p:spPr>
          <a:xfrm>
            <a:off x="548640" y="534924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9d9e0"/>
                </a:solidFill>
                <a:latin typeface="Calibri"/>
                <a:ea typeface="Calibri"/>
              </a:rPr>
              <a:t>Small enough to converge fast and stay fully transparent for debugging, before scaling up to linear or neural function approximation.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fa6b0"/>
                </a:solidFill>
                <a:latin typeface="Calibri"/>
                <a:ea typeface="Calibri"/>
              </a:rPr>
              <a:t>11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48640" y="38412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6fb7d6"/>
                </a:solidFill>
                <a:latin typeface="Calibri"/>
                <a:ea typeface="Calibri"/>
              </a:rPr>
              <a:t>RECAP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548640" y="6858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From objective to formulation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97" name="Shape 2"/>
          <p:cNvSpPr/>
          <p:nvPr/>
        </p:nvSpPr>
        <p:spPr>
          <a:xfrm>
            <a:off x="548640" y="2176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3"/>
          <p:cNvSpPr/>
          <p:nvPr/>
        </p:nvSpPr>
        <p:spPr>
          <a:xfrm>
            <a:off x="548640" y="2176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1005840" y="210312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Objective: balance origin load, not hit rate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0" name="Shape 5"/>
          <p:cNvSpPr/>
          <p:nvPr/>
        </p:nvSpPr>
        <p:spPr>
          <a:xfrm>
            <a:off x="548640" y="2743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Text 6"/>
          <p:cNvSpPr/>
          <p:nvPr/>
        </p:nvSpPr>
        <p:spPr>
          <a:xfrm>
            <a:off x="548640" y="2743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1005840" y="267012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Value density p·w replaces raw popularity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548640" y="3310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9"/>
          <p:cNvSpPr/>
          <p:nvPr/>
        </p:nvSpPr>
        <p:spPr>
          <a:xfrm>
            <a:off x="548640" y="3310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1005840" y="323712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Offline problem is NP-hard → motivates learning online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6" name="Shape 11"/>
          <p:cNvSpPr/>
          <p:nvPr/>
        </p:nvSpPr>
        <p:spPr>
          <a:xfrm>
            <a:off x="548640" y="3877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2"/>
          <p:cNvSpPr/>
          <p:nvPr/>
        </p:nvSpPr>
        <p:spPr>
          <a:xfrm>
            <a:off x="548640" y="3877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1005840" y="380376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State: balance + catalog + cached + frequency bin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09" name="Shape 14"/>
          <p:cNvSpPr/>
          <p:nvPr/>
        </p:nvSpPr>
        <p:spPr>
          <a:xfrm>
            <a:off x="6217920" y="2176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5"/>
          <p:cNvSpPr/>
          <p:nvPr/>
        </p:nvSpPr>
        <p:spPr>
          <a:xfrm>
            <a:off x="6217920" y="2176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1" name="Text 16"/>
          <p:cNvSpPr/>
          <p:nvPr/>
        </p:nvSpPr>
        <p:spPr>
          <a:xfrm>
            <a:off x="6675120" y="210312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Actions: admit/skip on miss, evict/keep on hit (+ LRU)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2" name="Shape 17"/>
          <p:cNvSpPr/>
          <p:nvPr/>
        </p:nvSpPr>
        <p:spPr>
          <a:xfrm>
            <a:off x="6217920" y="2743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8"/>
          <p:cNvSpPr/>
          <p:nvPr/>
        </p:nvSpPr>
        <p:spPr>
          <a:xfrm>
            <a:off x="6217920" y="2743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4" name="Text 19"/>
          <p:cNvSpPr/>
          <p:nvPr/>
        </p:nvSpPr>
        <p:spPr>
          <a:xfrm>
            <a:off x="6675120" y="267012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Reward: Jain's fairness index on windowed load rates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5" name="Shape 20"/>
          <p:cNvSpPr/>
          <p:nvPr/>
        </p:nvSpPr>
        <p:spPr>
          <a:xfrm>
            <a:off x="6217920" y="3310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1"/>
          <p:cNvSpPr/>
          <p:nvPr/>
        </p:nvSpPr>
        <p:spPr>
          <a:xfrm>
            <a:off x="6217920" y="3310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7" name="Text 22"/>
          <p:cNvSpPr/>
          <p:nvPr/>
        </p:nvSpPr>
        <p:spPr>
          <a:xfrm>
            <a:off x="6675120" y="323712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Continuing, average-reward MDP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18" name="Shape 23"/>
          <p:cNvSpPr/>
          <p:nvPr/>
        </p:nvSpPr>
        <p:spPr>
          <a:xfrm>
            <a:off x="6217920" y="3877200"/>
            <a:ext cx="310680" cy="310680"/>
          </a:xfrm>
          <a:solidFill>
            <a:srgbClr val="1c7293"/>
          </a:solidFill>
          <a:ln w="127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24"/>
          <p:cNvSpPr/>
          <p:nvPr/>
        </p:nvSpPr>
        <p:spPr>
          <a:xfrm>
            <a:off x="6217920" y="38772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20" name="Text 25"/>
          <p:cNvSpPr/>
          <p:nvPr/>
        </p:nvSpPr>
        <p:spPr>
          <a:xfrm>
            <a:off x="6675120" y="3803760"/>
            <a:ext cx="4754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e4eff4"/>
                </a:solidFill>
                <a:latin typeface="Calibri"/>
                <a:ea typeface="Calibri"/>
              </a:rPr>
              <a:t>Tabular Q-learning first, IRM vs. EWMA variants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221" name="Text 26"/>
          <p:cNvSpPr/>
          <p:nvPr/>
        </p:nvSpPr>
        <p:spPr>
          <a:xfrm>
            <a:off x="548640" y="489204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9fc2d2"/>
                </a:solidFill>
                <a:latin typeface="Calibri"/>
                <a:ea typeface="Calibri"/>
              </a:rPr>
              <a:t>Next up: the Q-learning update rule and a working simulator.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222" name="Text 27"/>
          <p:cNvSpPr/>
          <p:nvPr/>
        </p:nvSpPr>
        <p:spPr>
          <a:xfrm>
            <a:off x="11365920" y="63550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8fa6b0"/>
                </a:solidFill>
                <a:latin typeface="Calibri"/>
                <a:ea typeface="Calibri"/>
              </a:rPr>
              <a:t>12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2026-07-17T07:12:55Z</dcterms:created>
  <dc:creator>PptxGenJS</dc:creator>
  <dc:description/>
  <dc:language>en-US</dc:language>
  <cp:lastModifiedBy/>
  <dcterms:modified xsi:type="dcterms:W3CDTF">2026-07-17T18:05:31Z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